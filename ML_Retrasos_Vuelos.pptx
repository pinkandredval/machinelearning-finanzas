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s-CO" sz="1200" b="0" i="0" u="none" strike="noStrike">
                <a:solidFill>
                  <a:srgbClr val="0D1B2A"/>
                </a:solidFill>
                <a:latin typeface="Arial"/>
              </a:rPr>
              <a:t>Distribución de Clases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rgbClr val="1E8C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343-4554-9ABD-4AE18BA47A1B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43-4554-9ABD-4AE18BA47A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 Tiempo (0)</c:v>
                </c:pt>
                <c:pt idx="1">
                  <c:v>Retrasado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81.3</c:v>
                </c:pt>
                <c:pt idx="1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43-4554-9ABD-4AE18BA47A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Árbol de Decisión</c:v>
                </c:pt>
              </c:strCache>
            </c:strRef>
          </c:tx>
          <c:spPr>
            <a:solidFill>
              <a:srgbClr val="1B7F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F1-Score</c:v>
                </c:pt>
                <c:pt idx="2">
                  <c:v>AUC-ROC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0.57909999999999995</c:v>
                </c:pt>
                <c:pt idx="1">
                  <c:v>0.62539999999999996</c:v>
                </c:pt>
                <c:pt idx="2">
                  <c:v>0.58899999999999997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4-4EC7-ACE8-A8AE922D0D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E8C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F1-Score</c:v>
                </c:pt>
                <c:pt idx="2">
                  <c:v>AUC-ROC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0.58420000000000005</c:v>
                </c:pt>
                <c:pt idx="1">
                  <c:v>0.63</c:v>
                </c:pt>
                <c:pt idx="2">
                  <c:v>0.66879999999999995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4-4EC7-ACE8-A8AE922D0D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s-CO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4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2296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00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Retrasos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Vuelos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11480" y="2331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Impacto Financiero · Analítica Distribuida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2926080"/>
            <a:ext cx="1508760" cy="914400"/>
          </a:xfrm>
          <a:prstGeom prst="rect">
            <a:avLst/>
          </a:prstGeom>
          <a:solidFill>
            <a:srgbClr val="1B7F9E">
              <a:alpha val="80000"/>
            </a:srgbClr>
          </a:solidFill>
          <a:ln w="12700">
            <a:solidFill>
              <a:srgbClr val="2AA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1148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5.33M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34015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48840" y="2926080"/>
            <a:ext cx="1508760" cy="914400"/>
          </a:xfrm>
          <a:prstGeom prst="rect">
            <a:avLst/>
          </a:prstGeom>
          <a:solidFill>
            <a:srgbClr val="1B7F9E">
              <a:alpha val="80000"/>
            </a:srgbClr>
          </a:solidFill>
          <a:ln w="12700">
            <a:solidFill>
              <a:srgbClr val="2AA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14884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148840" y="34015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Retraso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86200" y="2926080"/>
            <a:ext cx="1508760" cy="914400"/>
          </a:xfrm>
          <a:prstGeom prst="rect">
            <a:avLst/>
          </a:prstGeom>
          <a:solidFill>
            <a:srgbClr val="1B7F9E">
              <a:alpha val="80000"/>
            </a:srgbClr>
          </a:solidFill>
          <a:ln w="12700">
            <a:solidFill>
              <a:srgbClr val="2AA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388620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886200" y="34015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Bureau of Transportation Statistics 2015  |  Área: Finanzas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Introducción y Dataset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914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9418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5,332,914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totales analizados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91440" cy="1005840"/>
          </a:xfrm>
          <a:prstGeom prst="rect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2130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retraso global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91440" cy="1005840"/>
          </a:xfrm>
          <a:prstGeom prst="rect">
            <a:avLst/>
          </a:prstGeom>
          <a:solidFill>
            <a:srgbClr val="1E8C5A"/>
          </a:solidFill>
          <a:ln w="12700">
            <a:solidFill>
              <a:srgbClr val="1E8C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776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a tiempo (clase mayoritaria)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297680" y="7772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50292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Desbalanceo de clases (81:19): justifica técnicas de submuestreo (undersampling) en la fase de modelado para evitar sesgo hacia la clase mayoritaria.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EDA: La Paradoja Financiera — DEP_HOUR vs. AIRLINE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Estadística: DEP_HOUR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Árbol de Decisión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3767327"/>
            <a:ext cx="3840480" cy="710079"/>
          </a:xfrm>
          <a:prstGeom prst="rect">
            <a:avLst/>
          </a:prstGeom>
          <a:solidFill>
            <a:srgbClr val="E8F4FD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57200" y="391037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pesar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variable DEP_HOUR sea la mas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es la mas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concentraciones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compensaciones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77724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 Negocio: AIRLINE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relevancia para Finanzas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3767328"/>
            <a:ext cx="182880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480060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WN: 25.17%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720840" y="3767328"/>
            <a:ext cx="201168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76656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NK: tasa 27.74%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solo 2.98% impacto</a:t>
            </a:r>
            <a:endParaRPr lang="en-US" sz="900" dirty="0"/>
          </a:p>
        </p:txBody>
      </p:sp>
      <p:pic>
        <p:nvPicPr>
          <p:cNvPr id="20" name="Imagen 19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B8C1464-ECF0-E034-66E9-0431D9122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770" y="1545336"/>
            <a:ext cx="4023360" cy="1988424"/>
          </a:xfrm>
          <a:prstGeom prst="rect">
            <a:avLst/>
          </a:prstGeom>
        </p:spPr>
      </p:pic>
      <p:pic>
        <p:nvPicPr>
          <p:cNvPr id="22" name="Imagen 21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CD81EC4B-2131-4EA6-5784-2B629F943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45336"/>
            <a:ext cx="3840480" cy="19010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Metodología — Árbol de Decisión vs. Random Forest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1901952"/>
        </p:xfrm>
        <a:graphic>
          <a:graphicData uri="http://schemas.openxmlformats.org/drawingml/2006/table">
            <a:tbl>
              <a:tblPr/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C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Mejora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 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320040" y="2834640"/>
          <a:ext cx="5303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2834640"/>
            <a:ext cx="2971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C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3"/>
          <p:cNvSpPr/>
          <p:nvPr/>
        </p:nvSpPr>
        <p:spPr>
          <a:xfrm>
            <a:off x="59893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Random Forest?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89320" y="3310128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en AUC-ROC de </a:t>
            </a: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argumento estadístico clave.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Accuracy y F1 mejoran marginalmente, el AUC-ROC mide la capacidad discriminante real del modelo, independiente del umbral de clasificación.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Misión Financiera — Matriz de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 → Dólares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36202"/>
            <a:ext cx="4206240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C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2764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3056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486,303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tiempo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correctamente clasificados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4206240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381,128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falsas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206240" cy="15087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62,082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no evitado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$9,312,300 USD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547078"/>
            <a:ext cx="4206240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B7F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937760" y="263851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14143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136,356 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correctamente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bruto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$20,453,400 USD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640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</a:t>
            </a: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640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</a:t>
            </a: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retrasado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903192"/>
              </p:ext>
            </p:extLst>
          </p:nvPr>
        </p:nvGraphicFramePr>
        <p:xfrm>
          <a:off x="1348740" y="4215858"/>
          <a:ext cx="6446520" cy="8229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Tarifa/TP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Ahorro Bruto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$13,635,600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Solicitado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$20,453,400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4">
            <a:extLst>
              <a:ext uri="{FF2B5EF4-FFF2-40B4-BE49-F238E27FC236}">
                <a16:creationId xmlns:a16="http://schemas.microsoft.com/office/drawing/2014/main" id="{E9E63305-46DD-EC9A-5B06-4A0F6859C314}"/>
              </a:ext>
            </a:extLst>
          </p:cNvPr>
          <p:cNvSpPr/>
          <p:nvPr/>
        </p:nvSpPr>
        <p:spPr>
          <a:xfrm rot="16200000">
            <a:off x="-2011680" y="14859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</a:t>
            </a:r>
            <a:r>
              <a:rPr lang="en-US" sz="10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</a:t>
            </a:r>
            <a:endParaRPr lang="en-US" sz="10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47BAB49-D785-C80A-5DEB-A436A178AAB6}"/>
              </a:ext>
            </a:extLst>
          </p:cNvPr>
          <p:cNvSpPr/>
          <p:nvPr/>
        </p:nvSpPr>
        <p:spPr>
          <a:xfrm rot="16200000">
            <a:off x="-1965960" y="32232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</a:t>
            </a:r>
            <a:r>
              <a:rPr lang="en-US" sz="10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retrasado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720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3200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Conclusión &amp; ROI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6858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la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Algorítmica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2057400"/>
            <a:ext cx="5943600" cy="822960"/>
          </a:xfrm>
          <a:prstGeom prst="rect">
            <a:avLst/>
          </a:prstGeom>
          <a:solidFill>
            <a:srgbClr val="1B7F9E">
              <a:alpha val="85000"/>
            </a:srgbClr>
          </a:solidFill>
          <a:ln w="12700">
            <a:solidFill>
              <a:srgbClr val="2AA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Neto Superior del Random Forest: </a:t>
            </a: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+$522,000 USD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Árbol de Decisión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solidFill>
            <a:srgbClr val="0D2A40"/>
          </a:solidFill>
          <a:ln w="12700">
            <a:solidFill>
              <a:srgbClr val="1B4F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02920" y="3072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Capacidad Predictiva  —  45.81% del riesgo total de retrasos es transformado en ahorro efectivo gracias al modelo RF.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3648456"/>
            <a:ext cx="8412480" cy="548640"/>
          </a:xfrm>
          <a:prstGeom prst="rect">
            <a:avLst/>
          </a:prstGeom>
          <a:solidFill>
            <a:srgbClr val="0D2A40"/>
          </a:solidFill>
          <a:ln w="12700">
            <a:solidFill>
              <a:srgbClr val="1B4F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029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Infraestructura Distribuida  —  PySpark + Docker escalan el procesamiento a 5M+ registros con tiempos de entrenamiento viables.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4279392"/>
            <a:ext cx="8412480" cy="548640"/>
          </a:xfrm>
          <a:prstGeom prst="rect">
            <a:avLst/>
          </a:prstGeom>
          <a:solidFill>
            <a:srgbClr val="0D2A40"/>
          </a:solidFill>
          <a:ln w="12700">
            <a:solidFill>
              <a:srgbClr val="1B4F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02920" y="43342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Decisión de Negocio  —  La complejidad del RF se justifica: +$522K netos y AUC-ROC 0.6688 vs. 0.5890 del árbol simple.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437</Words>
  <Application>Microsoft Office PowerPoint</Application>
  <PresentationFormat>Presentación en pantalla (16:9)</PresentationFormat>
  <Paragraphs>95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Predicción de Retrasos de Vuelos — Impacto Financiero</dc:title>
  <dc:subject>PptxGenJS Presentation</dc:subject>
  <dc:creator>PptxGenJS</dc:creator>
  <cp:lastModifiedBy>Kevin Leonardo Chaparro Reyes</cp:lastModifiedBy>
  <cp:revision>3</cp:revision>
  <dcterms:created xsi:type="dcterms:W3CDTF">2026-04-16T20:05:23Z</dcterms:created>
  <dcterms:modified xsi:type="dcterms:W3CDTF">2026-04-16T22:29:03Z</dcterms:modified>
</cp:coreProperties>
</file>